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1097280"/>
            <a:ext cx="3840480" cy="3840480"/>
          </a:xfrm>
          <a:prstGeom prst="ellipse">
            <a:avLst/>
          </a:prstGeom>
          <a:solidFill>
            <a:srgbClr val="101C36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43800" y="2103120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6B6D4"/>
                </a:solidFill>
                <a:latin typeface="Segoe UI"/>
              </a:defRPr>
            </a:pPr>
            <a:r>
              <a:t>MERN STACK</a:t>
            </a:r>
            <a:br/>
            <a:r>
              <a:t>FULL-STACK WEB APP</a:t>
            </a:r>
            <a:br/>
            <a:r>
              <a:t>SECURE &amp; AUDITED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  <a:latin typeface="Segoe UI"/>
              </a:defRPr>
            </a:pPr>
            <a:r>
              <a:t>SECURE CAMPUS FILE SHARING &amp; DOCUMENT MANAGEMENT SYSTEM</a:t>
            </a:r>
          </a:p>
          <a:p>
            <a:pPr>
              <a:spcBef>
                <a:spcPts val="1500"/>
              </a:spcBef>
              <a:defRPr sz="2200">
                <a:solidFill>
                  <a:srgbClr val="06B6D4"/>
                </a:solidFill>
                <a:latin typeface="Calibri"/>
              </a:defRPr>
            </a:pPr>
            <a:r>
              <a:t>Final Project Review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6217920" cy="237744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5852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Presented by:</a:t>
            </a:r>
          </a:p>
          <a:p>
            <a:pPr>
              <a:spcBef>
                <a:spcPts val="500"/>
              </a:spcBef>
              <a:defRPr sz="1600" b="1">
                <a:solidFill>
                  <a:srgbClr val="F1F5F9"/>
                </a:solidFill>
                <a:latin typeface="Segoe UI"/>
              </a:defRPr>
            </a:pPr>
            <a:r>
              <a:t>MAHALINGAM S  (Reg. No: 232MCAN0099 | Roll No: 23MCA5099)</a:t>
            </a:r>
          </a:p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MASTER OF COMPUTER APPLICATIONS (MCA)</a:t>
            </a:r>
          </a:p>
          <a:p>
            <a:pPr>
              <a:spcBef>
                <a:spcPts val="1000"/>
              </a:spcBef>
              <a:defRPr sz="1400" b="1">
                <a:solidFill>
                  <a:srgbClr val="A855F7"/>
                </a:solidFill>
                <a:latin typeface="Calibri"/>
              </a:defRPr>
            </a:pPr>
            <a:r>
              <a:t>Guided by: DR.T.PARIMALAM (Associate Professor &amp; Head)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PG &amp; Research Dept. of Computer Science, Nandha Arts and Science College, Erode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PROJECT OVERVIEW &amp; KEY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  <a:latin typeface="Segoe UI"/>
              </a:defRPr>
            </a:pPr>
            <a:r>
              <a:t>THE CAMPUS PROBLEM</a:t>
            </a:r>
          </a:p>
          <a:p>
            <a:pPr>
              <a:spcBef>
                <a:spcPts val="10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• Fragmented Sharing Channels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  Academic resources are scattered across emails, chat apps, and physical USB drives.</a:t>
            </a:r>
          </a:p>
          <a:p>
            <a:pPr>
              <a:spcBef>
                <a:spcPts val="10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• Security Vulnerabilities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  Risks of executable file injections, malware distribution, and NoSQL query injection.</a:t>
            </a:r>
          </a:p>
          <a:p>
            <a:pPr>
              <a:spcBef>
                <a:spcPts val="10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• No Access Controls (RBAC)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  Students, faculty, and administrative staff share the same paths without isolated environments.</a:t>
            </a:r>
          </a:p>
          <a:p>
            <a:pPr>
              <a:spcBef>
                <a:spcPts val="10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• Lack of Audit Trail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  No immutable tracking of file uploads, downloads, or shares, compromising compliance.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Segoe UI"/>
              </a:defRPr>
            </a:pPr>
            <a:r>
              <a:t>THE SYSTEM SOLUTION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Isolated Workspace Drives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  Separate Department Drives and private folders for organized digital storage.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Advanced Security Protections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  Uses filename obfuscation, Multer middleware restrictions, and MongoDB sanitization.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Granular Role-Based Access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  Explicit levels of operation tailored for Students, Faculty, Staff, and Admins.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Intelligent Auto-Classification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  Integrated NLP lexical engine reads filenames to auto-categorize uploads.</a:t>
            </a:r>
          </a:p>
          <a:p>
            <a:pPr>
              <a:spcBef>
                <a:spcPts val="8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Expiring Links &amp; Drop Folders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  Supports secure tokenized share links and anonymous coursework Dropboxes.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SYSTEM 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466344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FRONTEND LAYER</a:t>
            </a:r>
          </a:p>
          <a:p>
            <a:pPr>
              <a:spcBef>
                <a:spcPts val="4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React 19 &amp; Vite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—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• Premium Glassmorphism UI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• Dynamic CSS Mesh Background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• Responsive Tailwind Layouts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• Axios HTTP Client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• Google OAuth Popup Component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466344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55448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NETWORK &amp; ROUTING</a:t>
            </a:r>
          </a:p>
          <a:p>
            <a:pPr>
              <a:spcBef>
                <a:spcPts val="4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Express API Router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—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• RESTful API Architecture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• JWT Session Validation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• RBAC Custom Middleware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• Multer File Stream Handler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• MongoSanitize Guard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468880" cy="466344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Segoe UI"/>
              </a:defRPr>
            </a:pPr>
            <a:r>
              <a:t>NLP &amp; LOGIC ENGINE</a:t>
            </a:r>
          </a:p>
          <a:p>
            <a:pPr>
              <a:spcBef>
                <a:spcPts val="4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Lexical Classifier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—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• Heuristic keyword parsing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• MIME fallback validation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• Tokenized sharing system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• Auto-clean expired links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• Dropbox submission handler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463040"/>
            <a:ext cx="2468880" cy="466344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55448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Segoe UI"/>
              </a:defRPr>
            </a:pPr>
            <a:r>
              <a:t>DATA &amp; STORAGE</a:t>
            </a:r>
          </a:p>
          <a:p>
            <a:pPr>
              <a:spcBef>
                <a:spcPts val="4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MongoDB &amp; Disk Store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—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• Mongoose ODM Schema validations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• Indexes (email, shareToken)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• Local Disk Storage Obfuscation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• UUID file mapping</a:t>
            </a:r>
          </a:p>
          <a:p>
            <a:pPr>
              <a:spcBef>
                <a:spcPts val="600"/>
              </a:spcBef>
              <a:defRPr sz="1150">
                <a:solidFill>
                  <a:srgbClr val="94A3B8"/>
                </a:solidFill>
                <a:latin typeface="Calibri"/>
              </a:defRPr>
            </a:pPr>
            <a:r>
              <a:t>• Immutable Audit Logging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HIGH-LEVEL ARCHITECTURE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60152" cy="484632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827" y="1401318"/>
            <a:ext cx="4357298" cy="46040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AUTHENTICATION &amp; IDENTITY MANAGEMENT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60152" cy="484632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uth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009" y="1401318"/>
            <a:ext cx="6318934" cy="46040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CORE DATABASE SCHEMA &amp; ER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0" cy="475488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DATABASE ENTITY RELATIONS</a:t>
            </a:r>
          </a:p>
          <a:p>
            <a:pPr>
              <a:spcBef>
                <a:spcPts val="8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■ USER (1) ── (N) FILE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  A user can upload and own multiple files in the system.</a:t>
            </a:r>
          </a:p>
          <a:p>
            <a:pPr>
              <a:spcBef>
                <a:spcPts val="8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■ USER (1) ── (N) FOLDER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  Folders are created and owned by specific user accounts.</a:t>
            </a:r>
          </a:p>
          <a:p>
            <a:pPr>
              <a:spcBef>
                <a:spcPts val="8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■ USER (1) ── (N) AUDIT_LOG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  All user actions trigger entries in the audit logs database.</a:t>
            </a:r>
          </a:p>
          <a:p>
            <a:pPr>
              <a:spcBef>
                <a:spcPts val="8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■ FOLDER (1) ── (N) FILE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  Virtual directories catalog files via folderId Mongoose references.</a:t>
            </a:r>
          </a:p>
          <a:p>
            <a:pPr>
              <a:spcBef>
                <a:spcPts val="8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■ FILE (1) ── (N) SHARED_LINK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  Granular share configurations generated for file tokens.</a:t>
            </a:r>
          </a:p>
          <a:p>
            <a:pPr>
              <a:spcBef>
                <a:spcPts val="8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■ Polymorphic Schemas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  Help tickets and audit records map dynamically to trigger entities.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371600"/>
            <a:ext cx="6217920" cy="475488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46304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MONGOOSE COLLECTION BLUEPRINTS</a:t>
            </a:r>
          </a:p>
          <a:p>
            <a:pPr>
              <a:spcBef>
                <a:spcPts val="800"/>
              </a:spcBef>
              <a:defRPr sz="1350" b="1">
                <a:solidFill>
                  <a:srgbClr val="F1F5F9"/>
                </a:solidFill>
                <a:latin typeface="Segoe UI"/>
              </a:defRPr>
            </a:pPr>
            <a:r>
              <a:t>• User Model (User.js)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Stores name, email (UK), role (student, faculty, staff, admin), department, password (select: false).</a:t>
            </a:r>
          </a:p>
          <a:p>
            <a:pPr>
              <a:spcBef>
                <a:spcPts val="800"/>
              </a:spcBef>
              <a:defRPr sz="1350" b="1">
                <a:solidFill>
                  <a:srgbClr val="F1F5F9"/>
                </a:solidFill>
                <a:latin typeface="Segoe UI"/>
              </a:defRPr>
            </a:pPr>
            <a:r>
              <a:t>• File Model (File.js)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Stores originalName, storageName (UUID, UK), folderId, ownerId, mimeType, sizeBytes, category, department, shareToken, downloadLimit, downloadCount.</a:t>
            </a:r>
          </a:p>
          <a:p>
            <a:pPr>
              <a:spcBef>
                <a:spcPts val="800"/>
              </a:spcBef>
              <a:defRPr sz="1350" b="1">
                <a:solidFill>
                  <a:srgbClr val="F1F5F9"/>
                </a:solidFill>
                <a:latin typeface="Segoe UI"/>
              </a:defRPr>
            </a:pPr>
            <a:r>
              <a:t>• Folder Model (Folder.js)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Tracks name, parentId (self-ref tree), ownerId, isDropFolder, deadline (Date), shareToken, department, isPublicToDepartment.</a:t>
            </a:r>
          </a:p>
          <a:p>
            <a:pPr>
              <a:spcBef>
                <a:spcPts val="800"/>
              </a:spcBef>
              <a:defRPr sz="1350" b="1">
                <a:solidFill>
                  <a:srgbClr val="F1F5F9"/>
                </a:solidFill>
                <a:latin typeface="Segoe UI"/>
              </a:defRPr>
            </a:pPr>
            <a:r>
              <a:t>• AuditLog Model (AuditLog.js)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Immutable logs of user actions. Tracks userId, action (upload, download, share, etc.), entityType, entityId, details, ipAddress.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ENTITY RELATIONSHIP (ER)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60152" cy="484632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826" y="1401318"/>
            <a:ext cx="6129299" cy="46040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DATA FLOW DIAGRAM (LEVEL 0 - CONTEXT)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60152" cy="484632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fd_level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04" y="1527493"/>
            <a:ext cx="9842144" cy="43516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DATA FLOW DIAGRAM (LEVEL 1 - FUNCTIONAL)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60152" cy="484632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fd_lev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04" y="1865672"/>
            <a:ext cx="9842144" cy="36752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DATA FLOW DIAGRAM (LEVEL 2 - UPLOAD &amp; VERIFICATION)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60152" cy="484632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fd_leve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287" y="1401318"/>
            <a:ext cx="2856378" cy="46040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WORKFLOW: SECURE UPLOAD &amp; OBFUSCATION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411480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828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1. Stream Transfer</a:t>
            </a:r>
          </a:p>
          <a:p>
            <a:pPr algn="ctr">
              <a:spcBef>
                <a:spcPts val="500"/>
              </a:spcBef>
              <a:defRPr sz="1400">
                <a:solidFill>
                  <a:srgbClr val="A855F7"/>
                </a:solidFill>
              </a:defRPr>
            </a:pPr>
            <a:r>
              <a:t>▼</a:t>
            </a:r>
          </a:p>
          <a:p>
            <a:pPr algn="ctr">
              <a:spcBef>
                <a:spcPts val="10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Client UI sends file stream via Axios multipart FormData to the backend server.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2011680" cy="411480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737360"/>
            <a:ext cx="1828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2. Multer Filter</a:t>
            </a:r>
          </a:p>
          <a:p>
            <a:pPr algn="ctr">
              <a:spcBef>
                <a:spcPts val="500"/>
              </a:spcBef>
              <a:defRPr sz="1400">
                <a:solidFill>
                  <a:srgbClr val="A855F7"/>
                </a:solidFill>
              </a:defRPr>
            </a:pPr>
            <a:r>
              <a:t>▼</a:t>
            </a:r>
          </a:p>
          <a:p>
            <a:pPr algn="ctr">
              <a:spcBef>
                <a:spcPts val="10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Checks maximum file size (50MB) and rejects executable formats (.exe, .sh, .bat).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45920"/>
            <a:ext cx="2011680" cy="411480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737360"/>
            <a:ext cx="1828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3. Obfuscation</a:t>
            </a:r>
          </a:p>
          <a:p>
            <a:pPr algn="ctr">
              <a:spcBef>
                <a:spcPts val="500"/>
              </a:spcBef>
              <a:defRPr sz="1400">
                <a:solidFill>
                  <a:srgbClr val="A855F7"/>
                </a:solidFill>
              </a:defRPr>
            </a:pPr>
            <a:r>
              <a:t>▼</a:t>
            </a:r>
          </a:p>
          <a:p>
            <a:pPr algn="ctr">
              <a:spcBef>
                <a:spcPts val="10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Renames physical file to a random crypto UUID, stripping original extension on disk.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645920"/>
            <a:ext cx="2011680" cy="411480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737360"/>
            <a:ext cx="1828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4. NLP Classify</a:t>
            </a:r>
          </a:p>
          <a:p>
            <a:pPr algn="ctr">
              <a:spcBef>
                <a:spcPts val="500"/>
              </a:spcBef>
              <a:defRPr sz="1400">
                <a:solidFill>
                  <a:srgbClr val="A855F7"/>
                </a:solidFill>
              </a:defRPr>
            </a:pPr>
            <a:r>
              <a:t>▼</a:t>
            </a:r>
          </a:p>
          <a:p>
            <a:pPr algn="ctr">
              <a:spcBef>
                <a:spcPts val="10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Passes original file name and MIME to classifier engine to determine category.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645920"/>
            <a:ext cx="2011680" cy="411480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1737360"/>
            <a:ext cx="1828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Segoe UI"/>
              </a:defRPr>
            </a:pPr>
            <a:r>
              <a:t>5. Write &amp; Audit</a:t>
            </a:r>
          </a:p>
          <a:p>
            <a:pPr algn="ctr">
              <a:spcBef>
                <a:spcPts val="500"/>
              </a:spcBef>
              <a:defRPr sz="1400">
                <a:solidFill>
                  <a:srgbClr val="A855F7"/>
                </a:solidFill>
              </a:defRPr>
            </a:pPr>
            <a:r>
              <a:t>▼</a:t>
            </a:r>
          </a:p>
          <a:p>
            <a:pPr algn="ctr">
              <a:spcBef>
                <a:spcPts val="10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Saves File Model metadata in MongoDB and writes an immutable, tracking Audit Log.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SECURE UPLOAD &amp; SECURITY FILTERING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60152" cy="484632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ploa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2544" y="1401318"/>
            <a:ext cx="1803863" cy="46040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NLP-LEXICAL DOCUMENT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  <a:latin typeface="Segoe UI"/>
              </a:defRPr>
            </a:pPr>
            <a:r>
              <a:t>CLASSIFIER LOGIC ENGINE</a:t>
            </a:r>
          </a:p>
          <a:p>
            <a:pPr>
              <a:spcBef>
                <a:spcPts val="600"/>
              </a:spcBef>
              <a:defRPr sz="1350" b="1">
                <a:solidFill>
                  <a:srgbClr val="F1F5F9"/>
                </a:solidFill>
                <a:latin typeface="Segoe UI"/>
              </a:defRPr>
            </a:pPr>
            <a:r>
              <a:t>Filename Pattern Mapping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Reads original name tokens in lowercase. Priority keywords map straight to academic divisions:</a:t>
            </a:r>
          </a:p>
          <a:p>
            <a:pPr>
              <a:spcBef>
                <a:spcPts val="600"/>
              </a:spcBef>
              <a:defRPr sz="1250" b="0">
                <a:solidFill>
                  <a:srgbClr val="06B6D4"/>
                </a:solidFill>
                <a:latin typeface="Calibri"/>
              </a:defRPr>
            </a:pPr>
            <a:r>
              <a:t>  • 'assignment', 'hw', 'homework'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Categorized as Assignments</a:t>
            </a:r>
          </a:p>
          <a:p>
            <a:pPr>
              <a:spcBef>
                <a:spcPts val="600"/>
              </a:spcBef>
              <a:defRPr sz="1250" b="0">
                <a:solidFill>
                  <a:srgbClr val="06B6D4"/>
                </a:solidFill>
                <a:latin typeface="Calibri"/>
              </a:defRPr>
            </a:pPr>
            <a:r>
              <a:t>  • 'lab', 'record', 'experiment'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Categorized as Lab Records</a:t>
            </a:r>
          </a:p>
          <a:p>
            <a:pPr>
              <a:spcBef>
                <a:spcPts val="600"/>
              </a:spcBef>
              <a:defRPr sz="1250" b="0">
                <a:solidFill>
                  <a:srgbClr val="06B6D4"/>
                </a:solidFill>
                <a:latin typeface="Calibri"/>
              </a:defRPr>
            </a:pPr>
            <a:r>
              <a:t>  • 'syllabus', 'curriculum'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Categorized as Syllabus</a:t>
            </a:r>
          </a:p>
          <a:p>
            <a:pPr>
              <a:spcBef>
                <a:spcPts val="600"/>
              </a:spcBef>
              <a:defRPr sz="1250" b="0">
                <a:solidFill>
                  <a:srgbClr val="06B6D4"/>
                </a:solidFill>
                <a:latin typeface="Calibri"/>
              </a:defRPr>
            </a:pPr>
            <a:r>
              <a:t>  • 'question', 'paper', 'exam'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Categorized as Question Papers</a:t>
            </a:r>
          </a:p>
          <a:p>
            <a:pPr>
              <a:spcBef>
                <a:spcPts val="600"/>
              </a:spcBef>
              <a:defRPr sz="1350" b="1">
                <a:solidFill>
                  <a:srgbClr val="F1F5F9"/>
                </a:solidFill>
                <a:latin typeface="Segoe UI"/>
              </a:defRPr>
            </a:pPr>
            <a:r>
              <a:t>MIME Type Fallback Rules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If no keywords match, maps files by standard MIME category rules:</a:t>
            </a:r>
          </a:p>
          <a:p>
            <a:pPr>
              <a:spcBef>
                <a:spcPts val="600"/>
              </a:spcBef>
              <a:defRPr sz="1250" b="0">
                <a:solidFill>
                  <a:srgbClr val="06B6D4"/>
                </a:solidFill>
                <a:latin typeface="Calibri"/>
              </a:defRPr>
            </a:pPr>
            <a:r>
              <a:t>  • image/* → Images | video/* → Videos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application/pdf → Documents</a:t>
            </a:r>
          </a:p>
          <a:p>
            <a:pPr>
              <a:spcBef>
                <a:spcPts val="600"/>
              </a:spcBef>
              <a:defRPr sz="1250" b="0">
                <a:solidFill>
                  <a:srgbClr val="06B6D4"/>
                </a:solidFill>
                <a:latin typeface="Calibri"/>
              </a:defRPr>
            </a:pPr>
            <a:r>
              <a:t>  • spreadsheet / excel / csv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Categorized as Spreadsheets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CLASSIFIER CODE SNAPSHOT</a:t>
            </a:r>
          </a:p>
          <a:p>
            <a:pPr>
              <a:spcBef>
                <a:spcPts val="1000"/>
              </a:spcBef>
              <a:defRPr sz="1150">
                <a:solidFill>
                  <a:srgbClr val="BAE6FD"/>
                </a:solidFill>
                <a:latin typeface="Consolas"/>
              </a:defRPr>
            </a:pPr>
            <a:r>
              <a:t>const classifyFile = (filename, mimeType) =&gt; {</a:t>
            </a:r>
            <a:br/>
            <a:r>
              <a:t>  const name = filename.toLowerCase();</a:t>
            </a:r>
            <a:br/>
            <a:br/>
            <a:r>
              <a:t>  if (name.includes('assignment') || name.includes('hw'))</a:t>
            </a:r>
            <a:br/>
            <a:r>
              <a:t>    return 'Assignments';</a:t>
            </a:r>
            <a:br/>
            <a:r>
              <a:t>  if (name.includes('lab') || name.includes('record'))</a:t>
            </a:r>
            <a:br/>
            <a:r>
              <a:t>    return 'Lab Records';</a:t>
            </a:r>
            <a:br/>
            <a:r>
              <a:t>  if (name.includes('exam') || name.includes('paper'))</a:t>
            </a:r>
            <a:br/>
            <a:r>
              <a:t>    return 'Question Papers';</a:t>
            </a:r>
            <a:br/>
            <a:r>
              <a:t>  if (name.includes('syllabus'))</a:t>
            </a:r>
            <a:br/>
            <a:r>
              <a:t>    return 'Syllabus';</a:t>
            </a:r>
            <a:br/>
            <a:br/>
            <a:r>
              <a:t>  // Fallback Category Mapping based on MIME</a:t>
            </a:r>
            <a:br/>
            <a:r>
              <a:t>  if (mimeType.startsWith('image/')) return 'Images';</a:t>
            </a:r>
            <a:br/>
            <a:r>
              <a:t>  if (mimeType.includes('pdf')) return 'Documents';</a:t>
            </a:r>
            <a:br/>
            <a:r>
              <a:t>  if (mimeType.includes('excel')) return 'Spreadsheets';</a:t>
            </a:r>
            <a:br/>
            <a:br/>
            <a:r>
              <a:t>  return 'Uncategorized';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ANONYMOUS COURSEWORK DROP FOLDERS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FACULTY WORKSPACE SETUP</a:t>
            </a:r>
          </a:p>
          <a:p>
            <a:pPr>
              <a:spcBef>
                <a:spcPts val="10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★ Dropbox Configuration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Faculty members create a normal virtual folder and toggle the Dropbox settings, adding a submission cut-off deadline.</a:t>
            </a:r>
          </a:p>
          <a:p>
            <a:pPr>
              <a:spcBef>
                <a:spcPts val="10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★ Tokenized Drop Links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The API generates a secure URL hash token e.g., `/drop/:token` which is shared with students.</a:t>
            </a:r>
          </a:p>
          <a:p>
            <a:pPr>
              <a:spcBef>
                <a:spcPts val="1000"/>
              </a:spcBef>
              <a:defRPr sz="1400" b="1">
                <a:solidFill>
                  <a:srgbClr val="F1F5F9"/>
                </a:solidFill>
                <a:latin typeface="Segoe UI"/>
              </a:defRPr>
            </a:pPr>
            <a:r>
              <a:t>★ Security Isolation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External/unauthenticated users can drop file streams into the box but cannot view other files inside the folder.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SUBMITTER / GUEST OPERATION FLOW</a:t>
            </a:r>
          </a:p>
          <a:p>
            <a:pPr>
              <a:spcBef>
                <a:spcPts val="10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URL Access Check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The server verifies that current Date.now() is within the configured folder deadline range.</a:t>
            </a:r>
          </a:p>
          <a:p>
            <a:pPr>
              <a:spcBef>
                <a:spcPts val="10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Clean Submission Panel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Submitter views a simple file drop card. Other student submissions are completely hidden for privacy.</a:t>
            </a:r>
          </a:p>
          <a:p>
            <a:pPr>
              <a:spcBef>
                <a:spcPts val="10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Owner Assignment &amp; Auditing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Uploaded file owner is set to the Faculty Creator, file is placed in target folderId, and audit entry logs the IP address.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ANONYMOUS DROP FOLDER SUBMISSIONS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60152" cy="484632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rop_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294" y="1401318"/>
            <a:ext cx="6938363" cy="46040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REST API ENDPOINTS &amp; ACCESS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AUTHENTICATION (/api/auth)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—</a:t>
            </a:r>
          </a:p>
          <a:p>
            <a:pPr>
              <a:spcBef>
                <a:spcPts val="800"/>
              </a:spcBef>
              <a:defRPr sz="1150">
                <a:solidFill>
                  <a:srgbClr val="F1F5F9"/>
                </a:solidFill>
                <a:latin typeface="Consolas"/>
              </a:defRPr>
            </a:pPr>
            <a:r>
              <a:t>POST /register — Setup accounts</a:t>
            </a:r>
          </a:p>
          <a:p>
            <a:pPr>
              <a:spcBef>
                <a:spcPts val="800"/>
              </a:spcBef>
              <a:defRPr sz="1150">
                <a:solidFill>
                  <a:srgbClr val="F1F5F9"/>
                </a:solidFill>
                <a:latin typeface="Consolas"/>
              </a:defRPr>
            </a:pPr>
            <a:r>
              <a:t>POST /login — Issue JWT</a:t>
            </a:r>
          </a:p>
          <a:p>
            <a:pPr>
              <a:spcBef>
                <a:spcPts val="800"/>
              </a:spcBef>
              <a:defRPr sz="1150">
                <a:solidFill>
                  <a:srgbClr val="F1F5F9"/>
                </a:solidFill>
                <a:latin typeface="Consolas"/>
              </a:defRPr>
            </a:pPr>
            <a:r>
              <a:t>POST /google — OAuth Auto-Register</a:t>
            </a:r>
          </a:p>
          <a:p>
            <a:pPr>
              <a:spcBef>
                <a:spcPts val="800"/>
              </a:spcBef>
              <a:defRPr sz="1150">
                <a:solidFill>
                  <a:srgbClr val="F1F5F9"/>
                </a:solidFill>
                <a:latin typeface="Consolas"/>
              </a:defRPr>
            </a:pPr>
            <a:r>
              <a:t>GET /me — Session profile metadata</a:t>
            </a:r>
          </a:p>
          <a:p>
            <a:pPr>
              <a:spcBef>
                <a:spcPts val="800"/>
              </a:spcBef>
              <a:defRPr sz="1150">
                <a:solidFill>
                  <a:srgbClr val="F1F5F9"/>
                </a:solidFill>
                <a:latin typeface="Consolas"/>
              </a:defRPr>
            </a:pPr>
            <a:r>
              <a:t>DELETE /me — Account termination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5448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855F7"/>
                </a:solidFill>
                <a:latin typeface="Segoe UI"/>
              </a:defRPr>
            </a:pPr>
            <a:r>
              <a:t>RESOURCES (/api/files &amp; /folders)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—</a:t>
            </a:r>
          </a:p>
          <a:p>
            <a:pPr>
              <a:spcBef>
                <a:spcPts val="800"/>
              </a:spcBef>
              <a:defRPr sz="1150">
                <a:solidFill>
                  <a:srgbClr val="F1F5F9"/>
                </a:solidFill>
                <a:latin typeface="Consolas"/>
              </a:defRPr>
            </a:pPr>
            <a:r>
              <a:t>POST /files — Upload with checks</a:t>
            </a:r>
          </a:p>
          <a:p>
            <a:pPr>
              <a:spcBef>
                <a:spcPts val="800"/>
              </a:spcBef>
              <a:defRPr sz="1150">
                <a:solidFill>
                  <a:srgbClr val="F1F5F9"/>
                </a:solidFill>
                <a:latin typeface="Consolas"/>
              </a:defRPr>
            </a:pPr>
            <a:r>
              <a:t>GET /files/download/:id — Secure fetch</a:t>
            </a:r>
          </a:p>
          <a:p>
            <a:pPr>
              <a:spcBef>
                <a:spcPts val="800"/>
              </a:spcBef>
              <a:defRPr sz="1150">
                <a:solidFill>
                  <a:srgbClr val="F1F5F9"/>
                </a:solidFill>
                <a:latin typeface="Consolas"/>
              </a:defRPr>
            </a:pPr>
            <a:r>
              <a:t>POST /files/share/:id — Share token</a:t>
            </a:r>
          </a:p>
          <a:p>
            <a:pPr>
              <a:spcBef>
                <a:spcPts val="800"/>
              </a:spcBef>
              <a:defRPr sz="1150">
                <a:solidFill>
                  <a:srgbClr val="F1F5F9"/>
                </a:solidFill>
                <a:latin typeface="Consolas"/>
              </a:defRPr>
            </a:pPr>
            <a:r>
              <a:t>POST /folders — Create directory trees</a:t>
            </a:r>
          </a:p>
          <a:p>
            <a:pPr>
              <a:spcBef>
                <a:spcPts val="800"/>
              </a:spcBef>
              <a:defRPr sz="1150">
                <a:solidFill>
                  <a:srgbClr val="F1F5F9"/>
                </a:solidFill>
                <a:latin typeface="Consolas"/>
              </a:defRPr>
            </a:pPr>
            <a:r>
              <a:t>POST /folders/share/:id — Active Dropbox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55448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ADMIN &amp; SUPPORT (/api/admin &amp; /help)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—</a:t>
            </a:r>
          </a:p>
          <a:p>
            <a:pPr>
              <a:spcBef>
                <a:spcPts val="800"/>
              </a:spcBef>
              <a:defRPr sz="1150">
                <a:solidFill>
                  <a:srgbClr val="F1F5F9"/>
                </a:solidFill>
                <a:latin typeface="Consolas"/>
              </a:defRPr>
            </a:pPr>
            <a:r>
              <a:t>GET /admin/logs — Immutable action trail</a:t>
            </a:r>
          </a:p>
          <a:p>
            <a:pPr>
              <a:spcBef>
                <a:spcPts val="800"/>
              </a:spcBef>
              <a:defRPr sz="1150">
                <a:solidFill>
                  <a:srgbClr val="F1F5F9"/>
                </a:solidFill>
                <a:latin typeface="Consolas"/>
              </a:defRPr>
            </a:pPr>
            <a:r>
              <a:t>GET /admin/stats — File/user statistics</a:t>
            </a:r>
          </a:p>
          <a:p>
            <a:pPr>
              <a:spcBef>
                <a:spcPts val="800"/>
              </a:spcBef>
              <a:defRPr sz="1150">
                <a:solidFill>
                  <a:srgbClr val="F1F5F9"/>
                </a:solidFill>
                <a:latin typeface="Consolas"/>
              </a:defRPr>
            </a:pPr>
            <a:r>
              <a:t>PATCH /admin/users/:id/approve — RBAC gate</a:t>
            </a:r>
          </a:p>
          <a:p>
            <a:pPr>
              <a:spcBef>
                <a:spcPts val="800"/>
              </a:spcBef>
              <a:defRPr sz="1150">
                <a:solidFill>
                  <a:srgbClr val="F1F5F9"/>
                </a:solidFill>
                <a:latin typeface="Consolas"/>
              </a:defRPr>
            </a:pPr>
            <a:r>
              <a:t>PATCH /admin/files/:id/verify — Verify document</a:t>
            </a:r>
          </a:p>
          <a:p>
            <a:pPr>
              <a:spcBef>
                <a:spcPts val="800"/>
              </a:spcBef>
              <a:defRPr sz="1150">
                <a:solidFill>
                  <a:srgbClr val="F1F5F9"/>
                </a:solidFill>
                <a:latin typeface="Consolas"/>
              </a:defRPr>
            </a:pPr>
            <a:r>
              <a:t>POST /help/request — Ticket pipeline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SECURITY ARCHITECTURE &amp; VULNERABILITY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MITIGATING CAMPUS SECURITY THREATS</a:t>
            </a:r>
          </a:p>
          <a:p>
            <a:pPr>
              <a:spcBef>
                <a:spcPts val="1000"/>
              </a:spcBef>
              <a:defRPr sz="1350" b="1">
                <a:solidFill>
                  <a:srgbClr val="F59E0B"/>
                </a:solidFill>
                <a:latin typeface="Segoe UI"/>
              </a:defRPr>
            </a:pPr>
            <a:r>
              <a:t>✘ NoSQL Database Injection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Attackers inject malicious query operators into email or password fields to bypass login schemes.</a:t>
            </a:r>
          </a:p>
          <a:p>
            <a:pPr>
              <a:spcBef>
                <a:spcPts val="1000"/>
              </a:spcBef>
              <a:defRPr sz="1350" b="1">
                <a:solidFill>
                  <a:srgbClr val="F59E0B"/>
                </a:solidFill>
                <a:latin typeface="Segoe UI"/>
              </a:defRPr>
            </a:pPr>
            <a:r>
              <a:t>✘ Directory Traversal Attacks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Attackers pass custom paths in requests to read configurations and secret files outside target paths.</a:t>
            </a:r>
          </a:p>
          <a:p>
            <a:pPr>
              <a:spcBef>
                <a:spcPts val="1000"/>
              </a:spcBef>
              <a:defRPr sz="1350" b="1">
                <a:solidFill>
                  <a:srgbClr val="F59E0B"/>
                </a:solidFill>
                <a:latin typeface="Segoe UI"/>
              </a:defRPr>
            </a:pPr>
            <a:r>
              <a:t>✘ Malicious File Execution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Uploading backdoor scripts (.php, .exe, .sh) which can run on the hosting server instance.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INTEGRATED SYSTEM DEFENSES</a:t>
            </a:r>
          </a:p>
          <a:p>
            <a:pPr>
              <a:spcBef>
                <a:spcPts val="1000"/>
              </a:spcBef>
              <a:defRPr sz="1350" b="1">
                <a:solidFill>
                  <a:srgbClr val="10B981"/>
                </a:solidFill>
                <a:latin typeface="Segoe UI"/>
              </a:defRPr>
            </a:pPr>
            <a:r>
              <a:t>✔ Global MongoSanitize Middleware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Express servers run `express-mongo-sanitize` on all requests. Automatically strips prohibited keys ($ and .) used in DB injections.</a:t>
            </a:r>
          </a:p>
          <a:p>
            <a:pPr>
              <a:spcBef>
                <a:spcPts val="1000"/>
              </a:spcBef>
              <a:defRPr sz="1350" b="1">
                <a:solidFill>
                  <a:srgbClr val="10B981"/>
                </a:solidFill>
                <a:latin typeface="Segoe UI"/>
              </a:defRPr>
            </a:pPr>
            <a:r>
              <a:t>✔ Filename UUID Obfuscation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No file retains its user-uploaded path. Obfuscated UUIDs are stored on disk in disk-storage. Original associations sit strictly behind DB security.</a:t>
            </a:r>
          </a:p>
          <a:p>
            <a:pPr>
              <a:spcBef>
                <a:spcPts val="1000"/>
              </a:spcBef>
              <a:defRPr sz="1350" b="1">
                <a:solidFill>
                  <a:srgbClr val="10B981"/>
                </a:solidFill>
                <a:latin typeface="Segoe UI"/>
              </a:defRPr>
            </a:pPr>
            <a:r>
              <a:t>✔ Multer Extension Blocklists</a:t>
            </a:r>
          </a:p>
          <a:p>
            <a:pPr>
              <a:defRPr sz="1250">
                <a:solidFill>
                  <a:srgbClr val="94A3B8"/>
                </a:solidFill>
                <a:latin typeface="Calibri"/>
              </a:defRPr>
            </a:pPr>
            <a:r>
              <a:t>Enforces checks rejecting files with blocked extensions. Mime-type signatures verify content legality prior to disk writing.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UI/UX DESIGN SYSTEM &amp; AESTHETICS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66344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GLASSMORPHISM CARDS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—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Floating panel representation via styling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Backdrop blur rules (blur(16px))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Minimalist 1px border lines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Deep Slate transparent layers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High contrast interactivity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66344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DYNAMIC MESH GRADIENT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—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Harmonious slate HSL dark theme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Animated background mesh canvas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Smooth transition states on hover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Inspires clean workspace interactions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Eliminates static layout fatigue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66344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Segoe UI"/>
              </a:defRPr>
            </a:pPr>
            <a:r>
              <a:t>COLORED SYSTEM BADGES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—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Assignments: Emerald Green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Circulars: Amber Yellow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Lab Records: Intense Cyan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Syllabus: Royal Purple</a:t>
            </a:r>
          </a:p>
          <a:p>
            <a:pPr>
              <a:spcBef>
                <a:spcPts val="1200"/>
              </a:spcBef>
              <a:defRPr sz="1300">
                <a:solidFill>
                  <a:srgbClr val="F1F5F9"/>
                </a:solidFill>
                <a:latin typeface="Calibri"/>
              </a:defRPr>
            </a:pPr>
            <a:r>
              <a:t>✦ Lecture Notes: Sapphire Blue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INSTALLATION &amp; CONFIGURATION BLUEPRINT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  <a:latin typeface="Segoe UI"/>
              </a:defRPr>
            </a:pPr>
            <a:r>
              <a:t>ENVIRONMENT SETTINGS</a:t>
            </a:r>
          </a:p>
          <a:p>
            <a:pPr>
              <a:spcBef>
                <a:spcPts val="1500"/>
              </a:spcBef>
              <a:defRPr sz="1200">
                <a:solidFill>
                  <a:srgbClr val="BAE6FD"/>
                </a:solidFill>
                <a:latin typeface="Consolas"/>
              </a:defRPr>
            </a:pPr>
            <a:r>
              <a:t># Backend - backend/.env</a:t>
            </a:r>
            <a:br/>
            <a:r>
              <a:t>PORT=5000</a:t>
            </a:r>
            <a:br/>
            <a:r>
              <a:t>MONGO_URI=mongodb+srv://&lt;db_user&gt;:&lt;pwd&gt;@cluster...</a:t>
            </a:r>
            <a:br/>
            <a:r>
              <a:t>JWT_SECRET=high_entropy_secret_key_value</a:t>
            </a:r>
            <a:br/>
            <a:r>
              <a:t>EMAIL_USER=institutional-email@gmail.com</a:t>
            </a:r>
            <a:br/>
            <a:r>
              <a:t>EMAIL_PASS=gmail_app_specific_password</a:t>
            </a:r>
            <a:br/>
            <a:br/>
            <a:r>
              <a:t># Frontend - frontend/.env</a:t>
            </a:r>
            <a:br/>
            <a:r>
              <a:t>VITE_API_URL=http://localhost:5000/api</a:t>
            </a:r>
            <a:br/>
            <a:r>
              <a:t>VITE_GOOGLE_CLIENT_ID=google-oauth-client-id-key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  <a:latin typeface="Segoe UI"/>
              </a:defRPr>
            </a:pPr>
            <a:r>
              <a:t>CLI SETUP &amp; DEPLOYMENT</a:t>
            </a:r>
          </a:p>
          <a:p>
            <a:pPr>
              <a:spcBef>
                <a:spcPts val="8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■ Backend Package Install</a:t>
            </a:r>
          </a:p>
          <a:p>
            <a:pPr>
              <a:defRPr sz="1150">
                <a:solidFill>
                  <a:srgbClr val="06B6D4"/>
                </a:solidFill>
                <a:latin typeface="Consolas"/>
              </a:defRPr>
            </a:pPr>
            <a:r>
              <a:t>cd backend &amp;&amp; npm install</a:t>
            </a:r>
          </a:p>
          <a:p>
            <a:pPr>
              <a:spcBef>
                <a:spcPts val="8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■ Frontend Package Install</a:t>
            </a:r>
          </a:p>
          <a:p>
            <a:pPr>
              <a:defRPr sz="1150">
                <a:solidFill>
                  <a:srgbClr val="06B6D4"/>
                </a:solidFill>
                <a:latin typeface="Consolas"/>
              </a:defRPr>
            </a:pPr>
            <a:r>
              <a:t>cd frontend &amp;&amp; npm install</a:t>
            </a:r>
          </a:p>
          <a:p>
            <a:pPr>
              <a:spcBef>
                <a:spcPts val="8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■ Database Wipe &amp; Seed Script</a:t>
            </a:r>
          </a:p>
          <a:p>
            <a:pPr>
              <a:defRPr sz="1150">
                <a:solidFill>
                  <a:srgbClr val="06B6D4"/>
                </a:solidFill>
                <a:latin typeface="Consolas"/>
              </a:defRPr>
            </a:pPr>
            <a:r>
              <a:t>cd backend &amp;&amp; node wipe-and-seed.js</a:t>
            </a:r>
            <a:br/>
            <a:r>
              <a:t>(Seeds students, faculty, files, directories)</a:t>
            </a:r>
          </a:p>
          <a:p>
            <a:pPr>
              <a:spcBef>
                <a:spcPts val="8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■ Promote User to Admin</a:t>
            </a:r>
          </a:p>
          <a:p>
            <a:pPr>
              <a:defRPr sz="1150">
                <a:solidFill>
                  <a:srgbClr val="06B6D4"/>
                </a:solidFill>
                <a:latin typeface="Consolas"/>
              </a:defRPr>
            </a:pPr>
            <a:r>
              <a:t>node make-admin.js --email=user@domain.edu</a:t>
            </a:r>
          </a:p>
          <a:p>
            <a:pPr>
              <a:spcBef>
                <a:spcPts val="800"/>
              </a:spcBef>
              <a:defRPr sz="1300" b="1">
                <a:solidFill>
                  <a:srgbClr val="F1F5F9"/>
                </a:solidFill>
                <a:latin typeface="Segoe UI"/>
              </a:defRPr>
            </a:pPr>
            <a:r>
              <a:t>■ Launch Systems Locally</a:t>
            </a:r>
          </a:p>
          <a:p>
            <a:pPr>
              <a:defRPr sz="1150">
                <a:solidFill>
                  <a:srgbClr val="06B6D4"/>
                </a:solidFill>
                <a:latin typeface="Consolas"/>
              </a:defRPr>
            </a:pPr>
            <a:r>
              <a:t>Backend: npm run dev (Runs server on PORT 5000)</a:t>
            </a:r>
            <a:br/>
            <a:r>
              <a:t>Frontend: npm run dev (Runs Vite on PORT 5173)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6B6D4"/>
                </a:solidFill>
                <a:latin typeface="Segoe UI"/>
              </a:defRPr>
            </a:pPr>
            <a:r>
              <a:t>CONCLUSION &amp; FINAL REVIEW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  <a:latin typeface="Segoe UI"/>
              </a:defRPr>
            </a:pPr>
            <a:r>
              <a:t>KEY PROJECT HIGHLIGHTS</a:t>
            </a:r>
          </a:p>
          <a:p>
            <a:pPr>
              <a:spcBef>
                <a:spcPts val="10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Seamless Academic Workflow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Centralized, secure space replacing scattered emails and chats.</a:t>
            </a:r>
          </a:p>
          <a:p>
            <a:pPr>
              <a:spcBef>
                <a:spcPts val="10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NoSQL &amp; Extension Defense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Production-hardened upload sanitization blocking backdoors.</a:t>
            </a:r>
          </a:p>
          <a:p>
            <a:pPr>
              <a:spcBef>
                <a:spcPts val="10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Heuristic Categorization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NLP classifier parses files to auto-organize academic directories.</a:t>
            </a:r>
          </a:p>
          <a:p>
            <a:pPr>
              <a:spcBef>
                <a:spcPts val="10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Google OAuth Integration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Hybrid identity validation combining standard login with Google accounts.</a:t>
            </a:r>
          </a:p>
          <a:p>
            <a:pPr>
              <a:spcBef>
                <a:spcPts val="1000"/>
              </a:spcBef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✔ Expiring Link Audits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Automatic cleanups of expired links and real-time audit logging.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162036"/>
          </a:solidFill>
          <a:ln w="19050">
            <a:solidFill>
              <a:srgbClr val="2D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0"/>
              </a:spcBef>
              <a:defRPr sz="2400" b="1">
                <a:solidFill>
                  <a:srgbClr val="A855F7"/>
                </a:solidFill>
                <a:latin typeface="Segoe UI"/>
              </a:defRPr>
            </a:pPr>
            <a:r>
              <a:t>THANK YOU &amp; QUESTIONS</a:t>
            </a:r>
          </a:p>
          <a:p>
            <a:pPr algn="ctr">
              <a:spcBef>
                <a:spcPts val="4000"/>
              </a:spcBef>
              <a:defRPr sz="1600" b="1">
                <a:solidFill>
                  <a:srgbClr val="F1F5F9"/>
                </a:solidFill>
                <a:latin typeface="Segoe UI"/>
              </a:defRPr>
            </a:pPr>
            <a:r>
              <a:t>SECURE CAMPUS FILE SHARING &amp; DOCUMENT MANAGEMENT SYSTEM</a:t>
            </a:r>
          </a:p>
          <a:p>
            <a:pPr algn="ctr">
              <a:spcBef>
                <a:spcPts val="10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PG &amp; Research Department of Computer Science</a:t>
            </a:r>
          </a:p>
          <a:p>
            <a:pPr algn="ctr">
              <a:defRPr sz="1400">
                <a:solidFill>
                  <a:srgbClr val="94A3B8"/>
                </a:solidFill>
                <a:latin typeface="Calibri"/>
              </a:defRPr>
            </a:pPr>
            <a:r>
              <a:t>Nandha Arts and Science College, Erode</a:t>
            </a:r>
          </a:p>
          <a:p>
            <a:pPr algn="ctr">
              <a:spcBef>
                <a:spcPts val="4000"/>
              </a:spcBef>
              <a:defRPr sz="1800" b="1">
                <a:solidFill>
                  <a:srgbClr val="06B6D4"/>
                </a:solidFill>
                <a:latin typeface="Segoe UI"/>
              </a:defRPr>
            </a:pPr>
            <a:r>
              <a:t>Open to Queries &amp;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